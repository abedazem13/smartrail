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0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20" d="100"/>
          <a:sy n="20" d="100"/>
        </p:scale>
        <p:origin x="6" y="171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8/10/relationships/authors" Target="authors.xml"/><Relationship Id="rId8" Type="http://schemas.openxmlformats.org/officeDocument/2006/relationships/notesMaster" Target="notesMasters/notesMaster1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Revised 24 October 2026: Problem and SmartRail each have two sentences. Exactly the four user-selected source images are embedded without further cropping: laptop/phone photo, two-seat-model photo, desktop control screenshot, mobile passenger screenshot. Screenshots are labeled simulation, not claimed as sensor measurements. Six process steps show startup calibration, filtered detection, USB transmission, merging real/simulated states, per-car counting and platform guidance. Original institutional template retained. No measured accuracy/dwell-time benefit, private email or external collaborator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00_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  <p:sp>
        <p:nvSpPr>
          <p:cNvPr id="24" name="SmartRail project mark"/>
          <p:cNvSpPr/>
          <p:nvPr/>
        </p:nvSpPr>
        <p:spPr>
          <a:xfrm>
            <a:off x="1800000" y="5040000"/>
            <a:ext cx="2015999" cy="2015999"/>
          </a:xfrm>
          <a:prstGeom prst="roundRect">
            <a:avLst>
              <a:gd name="adj" fmla="val 12000"/>
            </a:avLst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ject logo initials"/>
          <p:cNvSpPr txBox="1"/>
          <p:nvPr/>
        </p:nvSpPr>
        <p:spPr>
          <a:xfrm>
            <a:off x="1872000" y="5112000"/>
            <a:ext cx="1872000" cy="18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0" b="1">
                <a:solidFill>
                  <a:srgbClr val="FFFFFF"/>
                </a:solidFill>
                <a:latin typeface="Arial"/>
              </a:rPr>
              <a:t>SR</a:t>
            </a:r>
          </a:p>
        </p:txBody>
      </p:sp>
      <p:sp>
        <p:nvSpPr>
          <p:cNvPr id="26" name="project title"/>
          <p:cNvSpPr txBox="1"/>
          <p:nvPr/>
        </p:nvSpPr>
        <p:spPr>
          <a:xfrm>
            <a:off x="4320000" y="4608000"/>
            <a:ext cx="17820000" cy="21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600" b="1">
                <a:solidFill>
                  <a:srgbClr val="142C3B"/>
                </a:solidFill>
                <a:latin typeface="Arial"/>
              </a:rPr>
              <a:t>SmartRail</a:t>
            </a:r>
          </a:p>
        </p:txBody>
      </p:sp>
      <p:sp>
        <p:nvSpPr>
          <p:cNvPr id="27" name="tagline"/>
          <p:cNvSpPr txBox="1"/>
          <p:nvPr/>
        </p:nvSpPr>
        <p:spPr>
          <a:xfrm>
            <a:off x="4392000" y="6803999"/>
            <a:ext cx="17820000" cy="1007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087A78"/>
                </a:solidFill>
                <a:latin typeface="Arial"/>
              </a:rPr>
              <a:t>Know where to board.</a:t>
            </a:r>
          </a:p>
        </p:txBody>
      </p:sp>
      <p:sp>
        <p:nvSpPr>
          <p:cNvPr id="28" name="clean content panel"/>
          <p:cNvSpPr/>
          <p:nvPr/>
        </p:nvSpPr>
        <p:spPr>
          <a:xfrm>
            <a:off x="1602000" y="7905600"/>
            <a:ext cx="20952000" cy="2204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blem"/>
          <p:cNvSpPr txBox="1"/>
          <p:nvPr/>
        </p:nvSpPr>
        <p:spPr>
          <a:xfrm>
            <a:off x="1944000" y="7920000"/>
            <a:ext cx="20232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B63532"/>
                </a:solidFill>
                <a:latin typeface="Arial"/>
              </a:rPr>
              <a:t>Problem: </a:t>
            </a:r>
            <a:r>
              <a:rPr sz="5400" b="0">
                <a:solidFill>
                  <a:srgbClr val="142C3B"/>
                </a:solidFill>
                <a:latin typeface="Arial"/>
              </a:rPr>
              <a:t>Passengers lack seat information before boarding.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They may crowd near one door or search inside the train.</a:t>
            </a:r>
          </a:p>
        </p:txBody>
      </p:sp>
      <p:sp>
        <p:nvSpPr>
          <p:cNvPr id="30" name="project description"/>
          <p:cNvSpPr txBox="1"/>
          <p:nvPr/>
        </p:nvSpPr>
        <p:spPr>
          <a:xfrm>
            <a:off x="1944000" y="9676800"/>
            <a:ext cx="20232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42C3B"/>
                </a:solidFill>
                <a:latin typeface="Arial"/>
              </a:rPr>
              <a:t>SmartRail: </a:t>
            </a:r>
            <a:r>
              <a:rPr sz="5400" b="0">
                <a:solidFill>
                  <a:srgbClr val="142C3B"/>
                </a:solidFill>
                <a:latin typeface="Arial"/>
              </a:rPr>
              <a:t>Our IoT prototype monitors train-seat availability.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It guides passengers toward cars with more free seats.</a:t>
            </a:r>
          </a:p>
        </p:txBody>
      </p:sp>
      <p:sp>
        <p:nvSpPr>
          <p:cNvPr id="31" name="feature 1 bullet"/>
          <p:cNvSpPr/>
          <p:nvPr/>
        </p:nvSpPr>
        <p:spPr>
          <a:xfrm>
            <a:off x="1980000" y="11757599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eature 1"/>
          <p:cNvSpPr txBox="1"/>
          <p:nvPr/>
        </p:nvSpPr>
        <p:spPr>
          <a:xfrm>
            <a:off x="2268000" y="114336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Seat sensing: </a:t>
            </a:r>
            <a:r>
              <a:rPr sz="5400" b="0">
                <a:solidFill>
                  <a:srgbClr val="142C3B"/>
                </a:solidFill>
                <a:latin typeface="Arial"/>
              </a:rPr>
              <a:t>ESP32 and IR sensors detect occupied seats.</a:t>
            </a:r>
          </a:p>
        </p:txBody>
      </p:sp>
      <p:sp>
        <p:nvSpPr>
          <p:cNvPr id="33" name="feature 2 bullet"/>
          <p:cNvSpPr/>
          <p:nvPr/>
        </p:nvSpPr>
        <p:spPr>
          <a:xfrm>
            <a:off x="1980000" y="12628800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eature 2"/>
          <p:cNvSpPr txBox="1"/>
          <p:nvPr/>
        </p:nvSpPr>
        <p:spPr>
          <a:xfrm>
            <a:off x="2268000" y="123048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Hybrid train: </a:t>
            </a:r>
            <a:r>
              <a:rPr sz="5400" b="0">
                <a:solidFill>
                  <a:srgbClr val="142C3B"/>
                </a:solidFill>
                <a:latin typeface="Arial"/>
              </a:rPr>
              <a:t>12 x 108 seats (1,296); two physical inputs.</a:t>
            </a:r>
          </a:p>
        </p:txBody>
      </p:sp>
      <p:sp>
        <p:nvSpPr>
          <p:cNvPr id="35" name="feature 3 bullet"/>
          <p:cNvSpPr/>
          <p:nvPr/>
        </p:nvSpPr>
        <p:spPr>
          <a:xfrm>
            <a:off x="1980000" y="13500000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eature 3"/>
          <p:cNvSpPr txBox="1"/>
          <p:nvPr/>
        </p:nvSpPr>
        <p:spPr>
          <a:xfrm>
            <a:off x="2268000" y="131760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Web guidance: </a:t>
            </a:r>
            <a:r>
              <a:rPr sz="5400" b="0">
                <a:solidFill>
                  <a:srgbClr val="142C3B"/>
                </a:solidFill>
                <a:latin typeface="Arial"/>
              </a:rPr>
              <a:t>Car counts, seat maps and zone suggestions.</a:t>
            </a:r>
          </a:p>
        </p:txBody>
      </p:sp>
      <p:sp>
        <p:nvSpPr>
          <p:cNvPr id="37" name="advantages"/>
          <p:cNvSpPr txBox="1"/>
          <p:nvPr/>
        </p:nvSpPr>
        <p:spPr>
          <a:xfrm>
            <a:off x="1944000" y="140472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Advantage: </a:t>
            </a:r>
            <a:r>
              <a:rPr sz="5400" b="0">
                <a:solidFill>
                  <a:srgbClr val="142C3B"/>
                </a:solidFill>
                <a:latin typeface="Arial"/>
              </a:rPr>
              <a:t>Check before boarding, not after entering a car.</a:t>
            </a:r>
          </a:p>
        </p:txBody>
      </p:sp>
      <p:sp>
        <p:nvSpPr>
          <p:cNvPr id="38" name="demonstration"/>
          <p:cNvSpPr txBox="1"/>
          <p:nvPr/>
        </p:nvSpPr>
        <p:spPr>
          <a:xfrm>
            <a:off x="1944000" y="149184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Demonstration: </a:t>
            </a:r>
            <a:r>
              <a:rPr sz="5400" b="0">
                <a:solidFill>
                  <a:srgbClr val="142C3B"/>
                </a:solidFill>
                <a:latin typeface="Arial"/>
              </a:rPr>
              <a:t>2 physical seats + 1,294 simulated seats.</a:t>
            </a:r>
          </a:p>
        </p:txBody>
      </p:sp>
      <p:sp>
        <p:nvSpPr>
          <p:cNvPr id="39" name="conclusion"/>
          <p:cNvSpPr txBox="1"/>
          <p:nvPr/>
        </p:nvSpPr>
        <p:spPr>
          <a:xfrm>
            <a:off x="1944000" y="157896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Conclusion: </a:t>
            </a:r>
            <a:r>
              <a:rPr sz="5400" b="0">
                <a:solidFill>
                  <a:srgbClr val="142C3B"/>
                </a:solidFill>
                <a:latin typeface="Arial"/>
              </a:rPr>
              <a:t>One display combines real and simulated seats.</a:t>
            </a:r>
          </a:p>
        </p:txBody>
      </p:sp>
      <p:sp>
        <p:nvSpPr>
          <p:cNvPr id="40" name="method process caption"/>
          <p:cNvSpPr txBox="1"/>
          <p:nvPr/>
        </p:nvSpPr>
        <p:spPr>
          <a:xfrm>
            <a:off x="1944000" y="16704000"/>
            <a:ext cx="20232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65D7E"/>
                </a:solidFill>
                <a:latin typeface="Arial"/>
              </a:rPr>
              <a:t>METHOD / PROCESS — FROM SENSING TO GUIDANCE</a:t>
            </a:r>
          </a:p>
        </p:txBody>
      </p:sp>
      <p:sp>
        <p:nvSpPr>
          <p:cNvPr id="41" name="process step 1"/>
          <p:cNvSpPr/>
          <p:nvPr/>
        </p:nvSpPr>
        <p:spPr>
          <a:xfrm>
            <a:off x="19440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rocess label 1"/>
          <p:cNvSpPr txBox="1"/>
          <p:nvPr/>
        </p:nvSpPr>
        <p:spPr>
          <a:xfrm>
            <a:off x="20160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1. Calibrate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At startup</a:t>
            </a:r>
          </a:p>
        </p:txBody>
      </p:sp>
      <p:sp>
        <p:nvSpPr>
          <p:cNvPr id="43" name="diagram right arrow"/>
          <p:cNvSpPr/>
          <p:nvPr/>
        </p:nvSpPr>
        <p:spPr>
          <a:xfrm>
            <a:off x="48960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cess step 2"/>
          <p:cNvSpPr/>
          <p:nvPr/>
        </p:nvSpPr>
        <p:spPr>
          <a:xfrm>
            <a:off x="54144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cess label 2"/>
          <p:cNvSpPr txBox="1"/>
          <p:nvPr/>
        </p:nvSpPr>
        <p:spPr>
          <a:xfrm>
            <a:off x="54864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2. Detect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Filtered IR</a:t>
            </a:r>
          </a:p>
        </p:txBody>
      </p:sp>
      <p:sp>
        <p:nvSpPr>
          <p:cNvPr id="46" name="diagram right arrow"/>
          <p:cNvSpPr/>
          <p:nvPr/>
        </p:nvSpPr>
        <p:spPr>
          <a:xfrm>
            <a:off x="83664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ocess step 3"/>
          <p:cNvSpPr/>
          <p:nvPr/>
        </p:nvSpPr>
        <p:spPr>
          <a:xfrm>
            <a:off x="88848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rocess label 3"/>
          <p:cNvSpPr txBox="1"/>
          <p:nvPr/>
        </p:nvSpPr>
        <p:spPr>
          <a:xfrm>
            <a:off x="89568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3. Send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USB state</a:t>
            </a:r>
          </a:p>
        </p:txBody>
      </p:sp>
      <p:sp>
        <p:nvSpPr>
          <p:cNvPr id="49" name="diagram right arrow"/>
          <p:cNvSpPr/>
          <p:nvPr/>
        </p:nvSpPr>
        <p:spPr>
          <a:xfrm>
            <a:off x="11836799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cess step 4"/>
          <p:cNvSpPr/>
          <p:nvPr/>
        </p:nvSpPr>
        <p:spPr>
          <a:xfrm>
            <a:off x="123552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cess label 4"/>
          <p:cNvSpPr txBox="1"/>
          <p:nvPr/>
        </p:nvSpPr>
        <p:spPr>
          <a:xfrm>
            <a:off x="124272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4. Merge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Real + sim.</a:t>
            </a:r>
          </a:p>
        </p:txBody>
      </p:sp>
      <p:sp>
        <p:nvSpPr>
          <p:cNvPr id="52" name="diagram right arrow"/>
          <p:cNvSpPr/>
          <p:nvPr/>
        </p:nvSpPr>
        <p:spPr>
          <a:xfrm>
            <a:off x="15307199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cess step 5"/>
          <p:cNvSpPr/>
          <p:nvPr/>
        </p:nvSpPr>
        <p:spPr>
          <a:xfrm>
            <a:off x="158256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cess label 5"/>
          <p:cNvSpPr txBox="1"/>
          <p:nvPr/>
        </p:nvSpPr>
        <p:spPr>
          <a:xfrm>
            <a:off x="158976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5. Count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Free / car</a:t>
            </a:r>
          </a:p>
        </p:txBody>
      </p:sp>
      <p:sp>
        <p:nvSpPr>
          <p:cNvPr id="55" name="diagram right arrow"/>
          <p:cNvSpPr/>
          <p:nvPr/>
        </p:nvSpPr>
        <p:spPr>
          <a:xfrm>
            <a:off x="187776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rocess step 6"/>
          <p:cNvSpPr/>
          <p:nvPr/>
        </p:nvSpPr>
        <p:spPr>
          <a:xfrm>
            <a:off x="192960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cess label 6"/>
          <p:cNvSpPr txBox="1"/>
          <p:nvPr/>
        </p:nvSpPr>
        <p:spPr>
          <a:xfrm>
            <a:off x="193680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6. Guide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Show zones</a:t>
            </a:r>
          </a:p>
        </p:txBody>
      </p:sp>
      <p:pic>
        <p:nvPicPr>
          <p:cNvPr id="58" name="selected desktop operator screenshot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44000" y="18900000"/>
            <a:ext cx="12060000" cy="636165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59" name="controls screenshot caption"/>
          <p:cNvSpPr txBox="1"/>
          <p:nvPr/>
        </p:nvSpPr>
        <p:spPr>
          <a:xfrm>
            <a:off x="1944000" y="25325999"/>
            <a:ext cx="1206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Desktop controls (simulation example)</a:t>
            </a:r>
          </a:p>
        </p:txBody>
      </p:sp>
      <p:pic>
        <p:nvPicPr>
          <p:cNvPr id="60" name="selected actual photo laptop_phone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24000" y="26082000"/>
            <a:ext cx="4200000" cy="3150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1" name="laptop_phone photo caption"/>
          <p:cNvSpPr txBox="1"/>
          <p:nvPr/>
        </p:nvSpPr>
        <p:spPr>
          <a:xfrm>
            <a:off x="1944000" y="29285999"/>
            <a:ext cx="576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Laptop + mobile display</a:t>
            </a:r>
          </a:p>
        </p:txBody>
      </p:sp>
      <p:pic>
        <p:nvPicPr>
          <p:cNvPr id="62" name="selected actual photo seats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24000" y="26082000"/>
            <a:ext cx="4200000" cy="3150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3" name="seats photo caption"/>
          <p:cNvSpPr txBox="1"/>
          <p:nvPr/>
        </p:nvSpPr>
        <p:spPr>
          <a:xfrm>
            <a:off x="8243999" y="29285999"/>
            <a:ext cx="576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Two sensor seat models</a:t>
            </a:r>
          </a:p>
        </p:txBody>
      </p:sp>
      <p:pic>
        <p:nvPicPr>
          <p:cNvPr id="64" name="selected mobile passenger screenshot" descr="imag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564550" y="18900000"/>
            <a:ext cx="5590898" cy="10260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5" name="passenger screenshot caption"/>
          <p:cNvSpPr txBox="1"/>
          <p:nvPr/>
        </p:nvSpPr>
        <p:spPr>
          <a:xfrm>
            <a:off x="14544000" y="29250000"/>
            <a:ext cx="763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Passenger view (simulation)</a:t>
            </a:r>
          </a:p>
        </p:txBody>
      </p:sp>
      <p:sp>
        <p:nvSpPr>
          <p:cNvPr id="66" name="team names"/>
          <p:cNvSpPr txBox="1"/>
          <p:nvPr/>
        </p:nvSpPr>
        <p:spPr>
          <a:xfrm>
            <a:off x="1872000" y="30240000"/>
            <a:ext cx="2034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2C3B"/>
                </a:solidFill>
                <a:latin typeface="Arial"/>
              </a:rPr>
              <a:t>Team: Yazan Rabea  •  Abed Azem  •  Samar Khatib</a:t>
            </a:r>
          </a:p>
        </p:txBody>
      </p:sp>
      <p:sp>
        <p:nvSpPr>
          <p:cNvPr id="67" name="mentor name"/>
          <p:cNvSpPr txBox="1"/>
          <p:nvPr/>
        </p:nvSpPr>
        <p:spPr>
          <a:xfrm>
            <a:off x="1872000" y="31068000"/>
            <a:ext cx="2034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65D7E"/>
                </a:solidFill>
                <a:latin typeface="Arial"/>
              </a:rPr>
              <a:t>Mentor: Itai Dabran</a:t>
            </a:r>
          </a:p>
        </p:txBody>
      </p:sp>
      <p:sp>
        <p:nvSpPr>
          <p:cNvPr id="68" name="repository link"/>
          <p:cNvSpPr txBox="1"/>
          <p:nvPr/>
        </p:nvSpPr>
        <p:spPr>
          <a:xfrm>
            <a:off x="1872000" y="31788000"/>
            <a:ext cx="2034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87A78"/>
                </a:solidFill>
                <a:latin typeface="Arial"/>
              </a:rPr>
              <a:t>github.com/abedazem13/SmartRail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205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SmartRail — Know where to board</dc:title>
  <dc:creator>Yazan Rabea; Abed Azem; Samar Khatib</dc:creator>
  <cp:lastModifiedBy>Dabran Itai</cp:lastModifiedBy>
  <cp:revision>24</cp:revision>
  <dcterms:created xsi:type="dcterms:W3CDTF">2018-01-05T12:02:54Z</dcterms:created>
  <dcterms:modified xsi:type="dcterms:W3CDTF">2024-07-21T04:43:02Z</dcterms:modified>
  <dc:subject>IoT seat-availability prototype — selected photos and process diagram</dc:subject>
  <cp:keywords>SmartRail, ESP32, IoT, seat availability, hybrid prototype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</Properties>
</file>